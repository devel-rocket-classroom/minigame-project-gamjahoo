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554480"/>
            <a:ext cx="5120640" cy="5120640"/>
          </a:xfrm>
          <a:prstGeom prst="ellipse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828800"/>
            <a:ext cx="146304" cy="2743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80276" y="2208276"/>
            <a:ext cx="5001768" cy="2335222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main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240280"/>
            <a:ext cx="4937760" cy="2271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457550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메인 메뉴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UNITY · C# · 3주 1인 개발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FM-Lite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FM의 ‘육성’만 떼어낸, 한 시즌 2~3시간 컴팩트 축구 매니저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발표자: JihooKim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2026.06.07      프로젝트 마무리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발표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01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게임 소개 &amp; 기술 스택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—  무엇을, 무엇으로 만들었나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42032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42032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02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구현 범위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—  완성된 핵심 시스템 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00984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300984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0098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03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개발 과정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—  설계가 바뀐 순간들 · 난관과 극복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59935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059935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59935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04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느낀 점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—  3주가 남긴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18888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818888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81888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05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대표 구현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  —  매치 시뮬레이션 · 정보 비대칭 · AI 협업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77840"/>
            <a:ext cx="10424160" cy="658368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577840"/>
            <a:ext cx="82296" cy="65836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57784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06</a:t>
            </a:r>
            <a:r>
              <a:rPr sz="18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Q &amp; A</a:t>
            </a:r>
            <a:r>
              <a:rPr sz="13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346704" cy="3749039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057400"/>
            <a:ext cx="28346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엔진 · 언어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Unity 6000.3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C# / IL2CPP 빌드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ScriptableObject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정적 데이터 · 밸런스 외부화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Newtonsoft.Json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세이브 슬롯 직렬화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346704" cy="3749039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057400"/>
            <a:ext cx="28346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UI · 텍스트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Modern UI Pack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버튼·드롭다운·모달·툴팁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TextMeshPro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리치 텍스트 · 다국어 입력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NotoSansKR (OFL)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한/영 가변 폰트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2983" y="1828800"/>
            <a:ext cx="3346704" cy="3749039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9015" y="2057400"/>
            <a:ext cx="28346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구조 · 협업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4-Layer + EventBus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Domain/Core/App/Persistence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Claude Code + Unity MCP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코드·씬·PR 자동화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4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GitHub Issues / Projects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이슈→브랜치→PR→머지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원칙  </a:t>
            </a: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의존성 최소화(No Odin) · 외부 유료 에셋은 라이선스 보호 위해 별도 private repo 로 분리(gitignore)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INTRODUCTION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게임 소개 — “시간을 압축한 FM”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126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기존 FM 은 깊지만 한 시즌에 수십 시간 → 직장인이 즐기기 부담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해법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경기 ‘시각화’를 과감히 포기하고 육성·이적·유스에 집중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한 시즌을 2~3시간에 완주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핵심 셀링 포인트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3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3중 가챠 — 초기 스쿼드 / 유스 인스펙션 / 트레잇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3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정보 비대칭 기반 의사결정 (제한된 정보 속 선택)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3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리롤 ‘시스템화’ — 세이브로드 편법을 정식 메커닉으로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3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시드 기반 리플레이 가치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1756" y="2730251"/>
            <a:ext cx="4315968" cy="2019288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762255"/>
            <a:ext cx="4251960" cy="1955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4781544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메인 대시보드 — 다음 경기 · 일정 · 인박스 허브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구현 범위 — 완성된 핵심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82296" cy="89611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87451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매치 엔진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5-Zone Markov + xG + FM식 평점
결정성(시드) · 텍스트 이벤트 · 슛맵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3944" y="1783080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23944" y="1783080"/>
            <a:ext cx="82296" cy="896112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7451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선수 · 성장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49 stat · CA/PA · 신체 조건
월별 성장 스냅샷 · 트레잇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16352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816352"/>
            <a:ext cx="82296" cy="89611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290779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이적 시장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스카우팅 · 협상 · 임대
세부 stat / 주급 필터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3944" y="2816352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23944" y="2816352"/>
            <a:ext cx="82296" cy="896112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90779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유스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정기 인스펙션 · 콜업
멘토링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849624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849624"/>
            <a:ext cx="82296" cy="89611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941063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전술 · 라인업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포메이션 도식 드래그 · Role/Duty
시너지 10종 · 포메이션 상성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23944" y="3849624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23944" y="3849624"/>
            <a:ext cx="82296" cy="896112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941063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시설 8종×10단계 · 재정
시즌 사이클(시상/보드/리그)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882896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882896"/>
            <a:ext cx="82296" cy="89611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49743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UX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인박스 기반 알림 · GlobalNav
옵션 · 사운드 · 통화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3944" y="4882896"/>
            <a:ext cx="3108960" cy="89611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23944" y="4882896"/>
            <a:ext cx="82296" cy="896112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9743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인프라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세이브/로드 · 로컬라이즈(KO/EN)
측정 하네스 · EditMode 테스트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6075" y="2700294"/>
            <a:ext cx="3950208" cy="1850603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5_squad_tac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732298"/>
            <a:ext cx="3886200" cy="17865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98079" y="4582901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전술 — 포메이션 피치 드래그 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범위 제외  </a:t>
            </a:r>
            <a:r>
              <a:rPr sz="115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챔피언스리그 · 국가대표 · 기자회견 · 코치진 관리 (1인 3주 스코프상 의도적 컷)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TIMELINE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개발 일정 — 3주, 3개의 마일스톤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456432" cy="37033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82296" cy="37033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2926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V0.1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5/15–5/22  ·  프로토타입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한 시즌을 끝까지 (UI 못생겨도 기능 우선)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코어 데이터 · 세이브/로드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시간 진행 · 시즌 사이클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스코어만 나오는 매치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가챠 · 유스 · 단순 이적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456432" cy="37033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82296" cy="37033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93392"/>
            <a:ext cx="2926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V0.5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5/23–5/29  ·  플레이어빌리티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‘재미있게’ 한 시즌이 굴러가게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텍스트 매치 이벤트 · 상세 스탯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부상/카드 · 전술 프리셋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사기/약속 · 스카우팅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리그 3개 · 밸런싱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456432" cy="37033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82296" cy="37033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93392"/>
            <a:ext cx="2926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5/30–6/7  ·  폴리싱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포트폴리오 빌드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GlobalNav · 인박스 UX 패러다임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xG 매치 재설계 · 재정 밸런싱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옵션/사운드/통화 · 크레스트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Unity MCP 도입 · 측정 튜닝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방법론  </a:t>
            </a: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이슈→브랜치→PR→머지 · Sub-PR 패턴(명세→구현→에셋 chore) · </a:t>
            </a:r>
            <a:r>
              <a:rPr sz="12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‘명세 우선’ — 설계 결정 77건을 design-decisions.md 에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아키텍처 — 단방향 4-Layer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783080"/>
            <a:ext cx="6400800" cy="713232"/>
          </a:xfrm>
          <a:prstGeom prst="roundRect">
            <a:avLst/>
          </a:prstGeom>
          <a:solidFill>
            <a:srgbClr val="35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2296" cy="71323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78308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Presentation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UI 컨트롤러 · Unity Scene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120640" y="2496312"/>
            <a:ext cx="182880" cy="91440"/>
          </a:xfrm>
          <a:prstGeom prst="downArrow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2633472"/>
            <a:ext cx="6400800" cy="713232"/>
          </a:xfrm>
          <a:prstGeom prst="round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633472"/>
            <a:ext cx="82296" cy="71323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633472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Application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Stateless Systems — MatchSimulator · TransferSystem · GrowthSystem …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120640" y="3346704"/>
            <a:ext cx="182880" cy="91440"/>
          </a:xfrm>
          <a:prstGeom prst="downArrow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3483864"/>
            <a:ext cx="6400800" cy="713232"/>
          </a:xfrm>
          <a:prstGeom prst="roundRect">
            <a:avLst/>
          </a:prstGeom>
          <a:solidFill>
            <a:srgbClr val="24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3483864"/>
            <a:ext cx="82296" cy="71323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483864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Core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GameManager(진입점) · EventBus · GameTime — 인프라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20640" y="4197096"/>
            <a:ext cx="182880" cy="91440"/>
          </a:xfrm>
          <a:prstGeom prst="downArrow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11680" y="4334256"/>
            <a:ext cx="6400800" cy="713232"/>
          </a:xfrm>
          <a:prstGeom prst="roundRect">
            <a:avLst/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4334256"/>
            <a:ext cx="82296" cy="71323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334256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Domain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Player · Club · Match … 게임 규칙·데이터  (외부 의존 0)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120640" y="5047488"/>
            <a:ext cx="182880" cy="91440"/>
          </a:xfrm>
          <a:prstGeom prst="downArrow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11680" y="5184648"/>
            <a:ext cx="6400800" cy="713232"/>
          </a:xfrm>
          <a:prstGeom prst="roundRect">
            <a:avLst/>
          </a:prstGeom>
          <a:solidFill>
            <a:srgbClr val="16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11680" y="5184648"/>
            <a:ext cx="82296" cy="71323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184648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Data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 Save/Load · ScriptableObject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874519"/>
            <a:ext cx="28346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설계 원칙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의존 방향 단방향
— 역참조·순환 금지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Stateless 시스템
— GameState 입출력만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ID 기반 참조
— 직접 참조 금지 → 직렬화 안전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매직넘버 0
— GameBalanceSO 외부화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PROCESS · PIVOTS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설계가 바뀐 순간들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10424160" cy="11887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82296" cy="11887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66544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강제 씬 전환  →  인박스 패러다임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초기엔 이벤트마다 씬을 강제 이동 → ‘자유도 침해’ 피드백.
InboxRouter 가 이벤트를 알림으로 흡수, 유저가 직접 선택하게 전환.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91840"/>
            <a:ext cx="10424160" cy="11887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82296" cy="11887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38144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블런트 튜닝  →  xG 찬스-퀄리티 레이어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‘4-파라미터 튜닝’으로 골 수를 맞추려다 한계.
더 FM다운 방식을 찾아 실제 매치엔진 원리(xG)를 도입.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63440"/>
            <a:ext cx="10424160" cy="11887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663440"/>
            <a:ext cx="82296" cy="11887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09744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가격 상향  →  현금흐름 정상화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‘시설비만 올리자’는 표면 처방을 버리고 근본 원인 진단.
상시 유출(주급) 부재가 핵심 → 월 주급 차감 + 수입 비율 정상화.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CHALLENGES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난관과 극복 — 게임플레이 밸런싱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10424160" cy="107899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2103120" cy="1078992"/>
          </a:xfrm>
          <a:prstGeom prst="roundRect">
            <a:avLst/>
          </a:prstGeom>
          <a:solidFill>
            <a:srgbClr val="0D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1920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과득점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56816"/>
            <a:ext cx="79552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문제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박스 도달 = 동급 찬스 → 경기당 평균 5~6골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해결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xG 모델로 ‘찬스 품질’을 분리. E[goals]=ΣxG 로 수학적 산정 → 측정 평균 2.76골 (목표 2.7±0.3)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17520"/>
            <a:ext cx="10424160" cy="107899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017520"/>
            <a:ext cx="2103120" cy="1078992"/>
          </a:xfrm>
          <a:prstGeom prst="roundRect">
            <a:avLst/>
          </a:prstGeom>
          <a:solidFill>
            <a:srgbClr val="0D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920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재정 무한 증식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163824"/>
            <a:ext cx="79552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문제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주급 유출 0 + 수입만 누적 → 자금이 영구 증가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해결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월 주급 차감 신설 + EPL 임금/매출 63% 앵커로 수입 재스케일 → 중위 구단 본전±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224528"/>
            <a:ext cx="10424160" cy="107899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224528"/>
            <a:ext cx="2103120" cy="1078992"/>
          </a:xfrm>
          <a:prstGeom prst="roundRect">
            <a:avLst/>
          </a:prstGeom>
          <a:solidFill>
            <a:srgbClr val="0D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1920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비현실 평점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370832"/>
            <a:ext cx="79552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문제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포지션 무가중 → 수비/미드가 항상 저평점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해결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각 포지션 액션을 충분히 가치화 + xG 보정(빅찬스 미스 급락)으로 FM 정합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공통 무기  </a:t>
            </a: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측정 하네스(200~380 매치 / 20구단 시즌 순현금흐름) + 사용자 Test Runner 반복 튜닝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REFLECTION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느낀 점 — 3주가 남긴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424160" cy="86868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82296" cy="868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‘명세 우선’의 힘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즉흥 결정 대신 설계 결정 77건을 문서화 → 일관성과 ‘되돌림’ 방지. 혼자여도 미래의 나를 위한 계약서.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53512"/>
            <a:ext cx="10424160" cy="86868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953512"/>
            <a:ext cx="82296" cy="868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53512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밸런싱은 직감이 아닌 수학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xG = ΣE[goals] 처럼 목표를 수식으로 환원하니 시행착오가 1~2회로 수렴.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41064"/>
            <a:ext cx="10424160" cy="86868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41064"/>
            <a:ext cx="82296" cy="868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41064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‘버리는 결정’이 완성도를 만든다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경기 시각화 포기 같은 과감한 컷이 1인 3주 스코프를 끝까지 가게 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28616"/>
            <a:ext cx="10424160" cy="86868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928616"/>
            <a:ext cx="82296" cy="868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28616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AI 협업의 분업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    설계·판단은 사람, 반복 구현·리팩터·문서·와이어링은 AI. 혼자선 못 했을 범위를 3주에 완주.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DEEP DIVE · 매치 시뮬레이션 1/3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대표 구현 ① — 매치 엔진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경기 시각화를 포기한 대신, 결과를 만드는 ‘엔진’에 집중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5-Zone Markov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DefThird→Mid→AttThird→Box→Shot 의 확률 전이로 한 경기를 이벤트 시퀀스로 전개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결정성(시드)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매치 시작 시 시드 고정 → 같은 시드 = 같은 경기. ‘리롤 시스템’의 기술적 근간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동일 엔진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유저 경기와 백그라운드 리그 경기를 같은 엔진으로 → 리그 전체 일관성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풍부한 출력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스코어 + 텍스트 이벤트 + 슛맵/히트맵 + 선수별 평점·스탯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1756" y="2741028"/>
            <a:ext cx="4270248" cy="1997734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match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773032"/>
            <a:ext cx="4206240" cy="19337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4770767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매치 텍스트 씬 — 실시간 이벤트 · 가속(1/2/3/4)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DEEP DIVE · 매치 시뮬레이션 2/3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xG 찬스-퀄리티 레이어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핵심 아이디어 — “슛의 가치 = 그 찬스가 어떻게 만들어졌나”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▸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chanceType 별 baseXG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ClearChance · OpenPlay · Header · LongShot · FreeKick · Penalty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▸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기록되는 xG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= 찬스 품질(situation). 슈터 실력과 무관 (표준 xG 정의)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▸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실제 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= xG × finishMod(슈터 결정력) × gkMod(GK 보정)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▸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밸런싱이 ‘수학’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E[goals] ≈ ΣxG → 팀당 ΣxG≈1.35 → 2.7/경기 직접 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6036" y="1751076"/>
            <a:ext cx="4224528" cy="1982409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sho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783080"/>
            <a:ext cx="4160520" cy="1918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3765489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매치 결과 — 슛맵 / xG 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114800"/>
            <a:ext cx="4160520" cy="173736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4114800"/>
            <a:ext cx="82296" cy="17373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29768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측정 결과 (200 매치)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평균 2.76골</a:t>
            </a: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·   std 1.62   ·   PK 0.26/경기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목표 2.7±0.3 정합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DEEP DIVE · 매치 시뮬레이션 3/3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평점 재설계 — FM 정합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포지션 무가중 → 수비/미드 저평점 · 실점 책임을 GK 가 독점 · 부진 감점 부족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원리 — “포지션이 평점을 만든다”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인위적 라인 곱셈 대신, 각 포지션 액션을 충분히 가치화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패스 성공률 티어 보너스 · 수비 액션/클리어런스 가치 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DF 무실점/실점 공유 · GK 독점 해소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xG 보정 — 빅찬스 미스 급락 / clinical finish 가산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▹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9개 평점 파라미터를 GameBalanceSO 로 외부화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828800"/>
            <a:ext cx="4160520" cy="1627632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1975104"/>
            <a:ext cx="3703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xG 보정 직관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0.40 xG 빅찬스 미스   →   </a:t>
            </a:r>
            <a:r>
              <a:rPr sz="14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−0.74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0.05 xG 침착한 골   →   </a:t>
            </a:r>
            <a:r>
              <a:rPr sz="14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+1.37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6036" y="3598856"/>
            <a:ext cx="4224528" cy="1973719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630860"/>
            <a:ext cx="4160520" cy="19097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5604579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매치 결과 — 포지션별 선수 평점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DEEP DIVE · 기획-기술 결합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대표 구현 ② — 정보 비대칭 &amp; 스카우팅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게임의 핵심 재미 = 제한된 정보 속 의사결정. ‘정보’ 자체를 시스템으로 설계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5단계 티어 표시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정확한 수치는 숨기고, 명성 대비 상대평가로 등급만 노출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Trait 가시성 3-tier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Concealed(영구 비노출) / Public(항상) / ScoutGated(정찰 비례)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스카우팅 게이팅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scoutLevel(0~100) 비례로 공개 trait 수 결정 — ‘검색으로 스카우팅 무력화’ 차단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3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정보 누설 방지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미정찰 선수는 보유 trait 수조차 숨김 → ‘추가 정찰 필요’만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6036" y="1778508"/>
            <a:ext cx="4224528" cy="1975891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play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10512"/>
            <a:ext cx="4160520" cy="19118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3786403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선수 프로필 — 스탯 색상 등급 + 미정찰 trait 가림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160520"/>
            <a:ext cx="4160520" cy="169164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4160520"/>
            <a:ext cx="82296" cy="16916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4315968"/>
            <a:ext cx="3703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Trait 가시성 3-tier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Concealed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비노출 (늦깎이형·조숙형)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Public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항상 (골결정력·만능형 …)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ScoutGated</a:t>
            </a:r>
            <a:r>
              <a:rPr sz="11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정찰 비례 (부상취약 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DEEP DIVE · 프로세스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대표 구현 ③ — AI 협업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1인 개발이지만 ‘혼자’가 아니었다 — 역할을 나눈 도구 오케스트레이션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3346704" cy="169164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82296" cy="16916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67004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채팅 (Claude)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설계 · 디자인 결정
알고리즘 명세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468880"/>
            <a:ext cx="3346704" cy="169164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2468880"/>
            <a:ext cx="82296" cy="16916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Claude Code + Unity MCP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코드 · git · PR
씬/prefab/인스펙터 직접 와이어링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2468880"/>
            <a:ext cx="3346704" cy="169164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46136" y="2468880"/>
            <a:ext cx="82296" cy="16916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67004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GitHub Issues / Projects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작업 추적
이슈 → 브랜치 → PR → 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6400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기록 기반 협업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CLAUDE.md · design-decisions.md · 영속 메모리로 세션 간 컨텍스트를 유지 — ‘즉흥 결정 금지’를 시스템화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3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1인 · 3주에 설계 결정 77건 / 50+ PR / 4-Layer 풀시스템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1796" y="4338828"/>
            <a:ext cx="3858768" cy="1908875"/>
          </a:xfrm>
          <a:prstGeom prst="rect">
            <a:avLst/>
          </a:prstGeom>
          <a:noFill/>
          <a:ln w="15875">
            <a:solidFill>
              <a:srgbClr val="3A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5_github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370832"/>
            <a:ext cx="3794760" cy="18448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43800" y="6279707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GitHub Projects — 이슈→PR→머지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결과 &amp; 회고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2A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456432" cy="39319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82296" cy="3931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2926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CC71"/>
                </a:solidFill>
                <a:latin typeface="맑은 고딕"/>
                <a:ea typeface="맑은 고딕"/>
                <a:cs typeface="맑은 고딕"/>
              </a:rPr>
              <a:t>완성한 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한 시즌 풀 플레이 루프
(가챠→육성→이적→유스→전술→매치→결산)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FM다운 매치 엔진 (xG + 평점)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정보 비대칭 메타 (스카우팅 게이팅)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V0.1→V1.0 3주 마일스톤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56432" cy="39319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82296" cy="3931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57400"/>
            <a:ext cx="2926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핵심 자산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기록 기반 개발 프로세스
(명세 우선 · 측정 하네스)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재사용 가능한 측정/튜닝 루프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AI 협업 워크플로우 노하우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4-Layer 확장 가능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56432" cy="3931920"/>
          </a:xfrm>
          <a:prstGeom prst="roundRect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82296" cy="39319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57400"/>
            <a:ext cx="2926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남은 것 (V1.x)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컵 대회 · 세이브 슬롯명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남은 플레이테스트 핫픽스(Stage 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xG 좌표 정밀화 · Role별 평점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사운드/로컬라이즈 폴리싱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9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   ·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1371600"/>
            <a:ext cx="5486400" cy="5486400"/>
          </a:xfrm>
          <a:prstGeom prst="ellipse">
            <a:avLst/>
          </a:prstGeom>
          <a:solidFill>
            <a:srgbClr val="1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286000"/>
            <a:ext cx="146304" cy="2103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8229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1" i="0">
                <a:solidFill>
                  <a:srgbClr val="ECECF1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들어주셔서 감사합니다.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4A90D9"/>
                </a:solidFill>
                <a:latin typeface="맑은 고딕"/>
                <a:ea typeface="맑은 고딕"/>
                <a:cs typeface="맑은 고딕"/>
              </a:rPr>
              <a:t>FM-Lite</a:t>
            </a:r>
            <a:r>
              <a:rPr sz="1400" b="0" i="0">
                <a:solidFill>
                  <a:srgbClr val="9AA3B6"/>
                </a:solidFill>
                <a:latin typeface="맑은 고딕"/>
                <a:ea typeface="맑은 고딕"/>
                <a:cs typeface="맑은 고딕"/>
              </a:rPr>
              <a:t>   ·   JihooKim   ·   jjihooo49@gmail.com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